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d6da08031_0_96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  <p:sp>
        <p:nvSpPr>
          <p:cNvPr id="19" name="Google Shape;19;g3dd6da08031_0_96:notes"/>
          <p:cNvSpPr/>
          <p:nvPr>
            <p:ph idx="2" type="sldImg"/>
          </p:nvPr>
        </p:nvSpPr>
        <p:spPr>
          <a:xfrm>
            <a:off x="857419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2" name="Google Shape;452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type="ctrTitle"/>
          </p:nvPr>
        </p:nvSpPr>
        <p:spPr>
          <a:xfrm>
            <a:off x="685800" y="1597821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" name="Google Shape;9;p3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1100"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1100"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100"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100"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100"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100"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100"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100"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0" type="dt"/>
          </p:nvPr>
        </p:nvSpPr>
        <p:spPr>
          <a:xfrm>
            <a:off x="457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" name="Google Shape;11;p3"/>
          <p:cNvSpPr txBox="1"/>
          <p:nvPr>
            <p:ph idx="11" type="ftr"/>
          </p:nvPr>
        </p:nvSpPr>
        <p:spPr>
          <a:xfrm>
            <a:off x="3124200" y="4767265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jpg"/><Relationship Id="rId5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4502" y="199565"/>
            <a:ext cx="3294131" cy="89439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/>
        </p:nvSpPr>
        <p:spPr>
          <a:xfrm>
            <a:off x="280781" y="1093970"/>
            <a:ext cx="8565000" cy="3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IBM Project Presentation 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</a:t>
            </a:r>
            <a:b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Based Human Activity Recognition System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b="0" i="0" sz="15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Group ID: G-19</a:t>
            </a:r>
            <a:endParaRPr b="1" i="0" sz="15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 Name &amp; Enrollment No: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Dhruv Jethwani - 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22162171008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Viraj Patel - 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22162121018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Krish Patel - </a:t>
            </a:r>
            <a:r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22162581006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 b="1" i="0" sz="15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Mr. Nirav Rajgor, Mr Kunal Garud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Institute of Computer Technology, Ganpat University</a:t>
            </a:r>
            <a:endParaRPr b="1" i="0" sz="15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Date: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April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2026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E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>
            <a:off x="8778240" y="47731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&amp;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365760" y="64008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we identified · How we solved it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274320" y="969264"/>
            <a:ext cx="4023360" cy="420624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274320" y="969264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  THE PROBLEM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274320" y="1481328"/>
            <a:ext cx="4023360" cy="1024128"/>
          </a:xfrm>
          <a:prstGeom prst="rect">
            <a:avLst/>
          </a:prstGeom>
          <a:solidFill>
            <a:srgbClr val="1A1E3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274320" y="1481328"/>
            <a:ext cx="73152" cy="10241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457200" y="15453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👁 No Automated Monitoring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457200" y="182880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No scalable system to detect and log human physical activities in real time from image inputs.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274320" y="2596896"/>
            <a:ext cx="4023360" cy="1024128"/>
          </a:xfrm>
          <a:prstGeom prst="rect">
            <a:avLst/>
          </a:prstGeom>
          <a:solidFill>
            <a:srgbClr val="1A1E3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274320" y="2596896"/>
            <a:ext cx="73152" cy="10241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6"/>
          <p:cNvSpPr/>
          <p:nvPr/>
        </p:nvSpPr>
        <p:spPr>
          <a:xfrm>
            <a:off x="457200" y="26609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⚡ Manual Processes Fail at Scale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457200" y="294436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Human observation is error-prone, expensive, and impossible to deploy across large environments.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274320" y="3712464"/>
            <a:ext cx="4023360" cy="1024128"/>
          </a:xfrm>
          <a:prstGeom prst="rect">
            <a:avLst/>
          </a:prstGeom>
          <a:solidFill>
            <a:srgbClr val="1A1E3A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274320" y="3712464"/>
            <a:ext cx="73152" cy="10241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457200" y="37764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🏥 Critical Industries Underserved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57200" y="4059936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Healthcare, fitness, and workplace safety sectors lack an affordable AI-driven activity analysis tool.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4846320" y="969264"/>
            <a:ext cx="4023360" cy="420624"/>
          </a:xfrm>
          <a:prstGeom prst="rect">
            <a:avLst/>
          </a:prstGeom>
          <a:solidFill>
            <a:srgbClr val="0D9E6E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4846320" y="969264"/>
            <a:ext cx="4023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OUR SOLUTION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846320" y="1481328"/>
            <a:ext cx="4023360" cy="1024128"/>
          </a:xfrm>
          <a:prstGeom prst="rect">
            <a:avLst/>
          </a:prstGeom>
          <a:solidFill>
            <a:srgbClr val="0D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>
            <a:off x="4846320" y="1481328"/>
            <a:ext cx="73152" cy="10241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5029200" y="15453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🤖 AI-Powered Recognition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5029200" y="182880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EfficientNetB3 model analyses uploaded images via Gradio and returns activity labels with confidence scores.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846320" y="2596896"/>
            <a:ext cx="4023360" cy="1024128"/>
          </a:xfrm>
          <a:prstGeom prst="rect">
            <a:avLst/>
          </a:prstGeom>
          <a:solidFill>
            <a:srgbClr val="0D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6"/>
          <p:cNvSpPr/>
          <p:nvPr/>
        </p:nvSpPr>
        <p:spPr>
          <a:xfrm>
            <a:off x="4846320" y="2596896"/>
            <a:ext cx="73152" cy="10241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5029200" y="26609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☁️ Cloud-Native Platform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5029200" y="2944368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Flask backend on Render + React frontend on Vercel — always available, auto-scaling, zero server management.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846320" y="3712464"/>
            <a:ext cx="4023360" cy="1024128"/>
          </a:xfrm>
          <a:prstGeom prst="rect">
            <a:avLst/>
          </a:prstGeom>
          <a:solidFill>
            <a:srgbClr val="0D2240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4846320" y="3712464"/>
            <a:ext cx="73152" cy="10241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5029200" y="377647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6EE7B7"/>
                </a:solidFill>
                <a:latin typeface="Calibri"/>
                <a:ea typeface="Calibri"/>
                <a:cs typeface="Calibri"/>
                <a:sym typeface="Calibri"/>
              </a:rPr>
              <a:t>🎫 Auditable History Log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5029200" y="4059936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Every prediction is stored with a unique Ticket ID in TiDB Cloud MySQL with image URL for full traceability.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434840" y="969264"/>
            <a:ext cx="274320" cy="3364992"/>
          </a:xfrm>
          <a:prstGeom prst="rect">
            <a:avLst/>
          </a:prstGeom>
          <a:solidFill>
            <a:srgbClr val="0B1E3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" name="Google Shape;63;p6"/>
          <p:cNvCxnSpPr/>
          <p:nvPr/>
        </p:nvCxnSpPr>
        <p:spPr>
          <a:xfrm>
            <a:off x="4553712" y="1005840"/>
            <a:ext cx="0" cy="3291840"/>
          </a:xfrm>
          <a:prstGeom prst="straightConnector1">
            <a:avLst/>
          </a:prstGeom>
          <a:noFill/>
          <a:ln cap="flat" cmpd="sng" w="12700">
            <a:solidFill>
              <a:srgbClr val="1A56DB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7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778240" y="47731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365760" y="64008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End-to-end request flow — from upload to prediction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274320" y="1143000"/>
            <a:ext cx="1554480" cy="1554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228600" y="1097280"/>
            <a:ext cx="1554480" cy="155448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7" name="Google Shape;77;p7"/>
          <p:cNvCxnSpPr/>
          <p:nvPr/>
        </p:nvCxnSpPr>
        <p:spPr>
          <a:xfrm>
            <a:off x="777240" y="1261872"/>
            <a:ext cx="457200" cy="457200"/>
          </a:xfrm>
          <a:prstGeom prst="straightConnector1">
            <a:avLst/>
          </a:prstGeom>
          <a:solidFill>
            <a:srgbClr val="FFFFFF"/>
          </a:solidFill>
          <a:ln>
            <a:noFill/>
          </a:ln>
        </p:spPr>
      </p:cxnSp>
      <p:sp>
        <p:nvSpPr>
          <p:cNvPr id="78" name="Google Shape;78;p7"/>
          <p:cNvSpPr/>
          <p:nvPr/>
        </p:nvSpPr>
        <p:spPr>
          <a:xfrm>
            <a:off x="228600" y="175564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28600" y="21031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Browser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/ Mobile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965960" y="1143000"/>
            <a:ext cx="1554480" cy="1554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1920240" y="1097280"/>
            <a:ext cx="1554480" cy="1554480"/>
          </a:xfrm>
          <a:prstGeom prst="rect">
            <a:avLst/>
          </a:prstGeom>
          <a:solidFill>
            <a:srgbClr val="1A56DB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7"/>
          <p:cNvCxnSpPr/>
          <p:nvPr/>
        </p:nvCxnSpPr>
        <p:spPr>
          <a:xfrm>
            <a:off x="2468880" y="1261872"/>
            <a:ext cx="457200" cy="457200"/>
          </a:xfrm>
          <a:prstGeom prst="straightConnector1">
            <a:avLst/>
          </a:prstGeom>
          <a:solidFill>
            <a:srgbClr val="FFFFFF"/>
          </a:solidFill>
          <a:ln>
            <a:noFill/>
          </a:ln>
        </p:spPr>
      </p:cxnSp>
      <p:sp>
        <p:nvSpPr>
          <p:cNvPr id="83" name="Google Shape;83;p7"/>
          <p:cNvSpPr/>
          <p:nvPr/>
        </p:nvSpPr>
        <p:spPr>
          <a:xfrm>
            <a:off x="1920240" y="175564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920240" y="21031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React + 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3657600" y="1143000"/>
            <a:ext cx="1554480" cy="1554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3611880" y="1097280"/>
            <a:ext cx="1554480" cy="155448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7"/>
          <p:cNvCxnSpPr/>
          <p:nvPr/>
        </p:nvCxnSpPr>
        <p:spPr>
          <a:xfrm>
            <a:off x="4160520" y="1261872"/>
            <a:ext cx="457200" cy="457200"/>
          </a:xfrm>
          <a:prstGeom prst="straightConnector1">
            <a:avLst/>
          </a:prstGeom>
          <a:solidFill>
            <a:srgbClr val="FFFFFF"/>
          </a:solidFill>
          <a:ln>
            <a:noFill/>
          </a:ln>
        </p:spPr>
      </p:cxnSp>
      <p:sp>
        <p:nvSpPr>
          <p:cNvPr id="88" name="Google Shape;88;p7"/>
          <p:cNvSpPr/>
          <p:nvPr/>
        </p:nvSpPr>
        <p:spPr>
          <a:xfrm>
            <a:off x="3611880" y="175564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Flask API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3611880" y="21031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5349240" y="1143000"/>
            <a:ext cx="1554480" cy="1554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5303520" y="1097280"/>
            <a:ext cx="1554480" cy="15544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" name="Google Shape;92;p7"/>
          <p:cNvCxnSpPr/>
          <p:nvPr/>
        </p:nvCxnSpPr>
        <p:spPr>
          <a:xfrm>
            <a:off x="5852160" y="1261872"/>
            <a:ext cx="457200" cy="457200"/>
          </a:xfrm>
          <a:prstGeom prst="straightConnector1">
            <a:avLst/>
          </a:prstGeom>
          <a:solidFill>
            <a:srgbClr val="FFFFFF"/>
          </a:solidFill>
          <a:ln>
            <a:noFill/>
          </a:ln>
        </p:spPr>
      </p:cxnSp>
      <p:sp>
        <p:nvSpPr>
          <p:cNvPr id="93" name="Google Shape;93;p7"/>
          <p:cNvSpPr/>
          <p:nvPr/>
        </p:nvSpPr>
        <p:spPr>
          <a:xfrm>
            <a:off x="5303520" y="175564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5303520" y="21031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EfficientNetB3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7040880" y="1143000"/>
            <a:ext cx="1554480" cy="1554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6995160" y="1097280"/>
            <a:ext cx="1554480" cy="155448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" name="Google Shape;97;p7"/>
          <p:cNvCxnSpPr/>
          <p:nvPr/>
        </p:nvCxnSpPr>
        <p:spPr>
          <a:xfrm>
            <a:off x="7543800" y="1261872"/>
            <a:ext cx="457200" cy="457200"/>
          </a:xfrm>
          <a:prstGeom prst="straightConnector1">
            <a:avLst/>
          </a:prstGeom>
          <a:solidFill>
            <a:srgbClr val="FFFFFF"/>
          </a:solidFill>
          <a:ln>
            <a:noFill/>
          </a:ln>
        </p:spPr>
      </p:cxnSp>
      <p:sp>
        <p:nvSpPr>
          <p:cNvPr id="98" name="Google Shape;98;p7"/>
          <p:cNvSpPr/>
          <p:nvPr/>
        </p:nvSpPr>
        <p:spPr>
          <a:xfrm>
            <a:off x="6995160" y="1755648"/>
            <a:ext cx="1554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995160" y="21031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TiDB Cloud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7"/>
          <p:cNvCxnSpPr/>
          <p:nvPr/>
        </p:nvCxnSpPr>
        <p:spPr>
          <a:xfrm>
            <a:off x="1801368" y="1874520"/>
            <a:ext cx="100584" cy="0"/>
          </a:xfrm>
          <a:prstGeom prst="straightConnector1">
            <a:avLst/>
          </a:prstGeom>
          <a:noFill/>
          <a:ln cap="flat" cmpd="sng" w="31750">
            <a:solidFill>
              <a:srgbClr val="0B1E3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1" name="Google Shape;101;p7"/>
          <p:cNvCxnSpPr/>
          <p:nvPr/>
        </p:nvCxnSpPr>
        <p:spPr>
          <a:xfrm>
            <a:off x="3493008" y="1874520"/>
            <a:ext cx="100584" cy="0"/>
          </a:xfrm>
          <a:prstGeom prst="straightConnector1">
            <a:avLst/>
          </a:prstGeom>
          <a:noFill/>
          <a:ln cap="flat" cmpd="sng" w="31750">
            <a:solidFill>
              <a:srgbClr val="0B1E3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2" name="Google Shape;102;p7"/>
          <p:cNvCxnSpPr/>
          <p:nvPr/>
        </p:nvCxnSpPr>
        <p:spPr>
          <a:xfrm>
            <a:off x="5184648" y="1874520"/>
            <a:ext cx="100584" cy="0"/>
          </a:xfrm>
          <a:prstGeom prst="straightConnector1">
            <a:avLst/>
          </a:prstGeom>
          <a:noFill/>
          <a:ln cap="flat" cmpd="sng" w="31750">
            <a:solidFill>
              <a:srgbClr val="0B1E3E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3" name="Google Shape;103;p7"/>
          <p:cNvCxnSpPr/>
          <p:nvPr/>
        </p:nvCxnSpPr>
        <p:spPr>
          <a:xfrm>
            <a:off x="6876288" y="1874520"/>
            <a:ext cx="100584" cy="0"/>
          </a:xfrm>
          <a:prstGeom prst="straightConnector1">
            <a:avLst/>
          </a:prstGeom>
          <a:noFill/>
          <a:ln cap="flat" cmpd="sng" w="31750">
            <a:solidFill>
              <a:srgbClr val="0B1E3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4" name="Google Shape;104;p7"/>
          <p:cNvSpPr/>
          <p:nvPr/>
        </p:nvSpPr>
        <p:spPr>
          <a:xfrm>
            <a:off x="6995160" y="2852928"/>
            <a:ext cx="15544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995160" y="2852928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ImgBB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Storage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" name="Google Shape;106;p7"/>
          <p:cNvCxnSpPr/>
          <p:nvPr/>
        </p:nvCxnSpPr>
        <p:spPr>
          <a:xfrm>
            <a:off x="7772400" y="2651760"/>
            <a:ext cx="0" cy="384048"/>
          </a:xfrm>
          <a:prstGeom prst="straightConnector1">
            <a:avLst/>
          </a:prstGeom>
          <a:noFill/>
          <a:ln cap="flat" cmpd="sng" w="19050">
            <a:solidFill>
              <a:srgbClr val="F59E0B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07" name="Google Shape;107;p7"/>
          <p:cNvSpPr/>
          <p:nvPr/>
        </p:nvSpPr>
        <p:spPr>
          <a:xfrm>
            <a:off x="228600" y="3639312"/>
            <a:ext cx="1572768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228600" y="3639312"/>
            <a:ext cx="1572768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228600" y="3730752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1. Upload image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920240" y="3639312"/>
            <a:ext cx="1572768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1920240" y="3639312"/>
            <a:ext cx="1572768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920240" y="3730752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2. POST /upload_image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611880" y="3639312"/>
            <a:ext cx="1572768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3611880" y="3639312"/>
            <a:ext cx="1572768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3611880" y="3730752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3. Call Gradio ML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303520" y="3639312"/>
            <a:ext cx="1572768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303520" y="3639312"/>
            <a:ext cx="1572768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303520" y="3730752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4. Return prediction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995160" y="3639312"/>
            <a:ext cx="1572768" cy="640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995160" y="3639312"/>
            <a:ext cx="1572768" cy="6400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995160" y="3730752"/>
            <a:ext cx="157276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5. Save + respond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0" y="43434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Request / Response Flow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E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8778240" y="47731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65760" y="64008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Every technology powering HAR-Cloud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274320" y="960120"/>
            <a:ext cx="2761488" cy="1627632"/>
          </a:xfrm>
          <a:prstGeom prst="rect">
            <a:avLst/>
          </a:prstGeom>
          <a:solidFill>
            <a:srgbClr val="112240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274320" y="960120"/>
            <a:ext cx="2761488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384048" y="1005840"/>
            <a:ext cx="2624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⚛  Frontend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8"/>
          <p:cNvCxnSpPr/>
          <p:nvPr/>
        </p:nvCxnSpPr>
        <p:spPr>
          <a:xfrm>
            <a:off x="402336" y="1472184"/>
            <a:ext cx="91440" cy="91440"/>
          </a:xfrm>
          <a:prstGeom prst="straightConnector1">
            <a:avLst/>
          </a:prstGeom>
          <a:solidFill>
            <a:srgbClr val="1A56DB"/>
          </a:solidFill>
          <a:ln>
            <a:noFill/>
          </a:ln>
        </p:spPr>
      </p:cxnSp>
      <p:sp>
        <p:nvSpPr>
          <p:cNvPr id="138" name="Google Shape;138;p8"/>
          <p:cNvSpPr/>
          <p:nvPr/>
        </p:nvSpPr>
        <p:spPr>
          <a:xfrm>
            <a:off x="566928" y="141732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React 18 + TypeScript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8"/>
          <p:cNvCxnSpPr/>
          <p:nvPr/>
        </p:nvCxnSpPr>
        <p:spPr>
          <a:xfrm>
            <a:off x="402336" y="1691640"/>
            <a:ext cx="91440" cy="91440"/>
          </a:xfrm>
          <a:prstGeom prst="straightConnector1">
            <a:avLst/>
          </a:prstGeom>
          <a:solidFill>
            <a:srgbClr val="1A56DB"/>
          </a:solidFill>
          <a:ln>
            <a:noFill/>
          </a:ln>
        </p:spPr>
      </p:cxnSp>
      <p:sp>
        <p:nvSpPr>
          <p:cNvPr id="140" name="Google Shape;140;p8"/>
          <p:cNvSpPr/>
          <p:nvPr/>
        </p:nvSpPr>
        <p:spPr>
          <a:xfrm>
            <a:off x="566928" y="163677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Vite (build tool)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402336" y="1911096"/>
            <a:ext cx="91440" cy="91440"/>
          </a:xfrm>
          <a:prstGeom prst="straightConnector1">
            <a:avLst/>
          </a:prstGeom>
          <a:solidFill>
            <a:srgbClr val="1A56DB"/>
          </a:solidFill>
          <a:ln>
            <a:noFill/>
          </a:ln>
        </p:spPr>
      </p:cxnSp>
      <p:sp>
        <p:nvSpPr>
          <p:cNvPr id="142" name="Google Shape;142;p8"/>
          <p:cNvSpPr/>
          <p:nvPr/>
        </p:nvSpPr>
        <p:spPr>
          <a:xfrm>
            <a:off x="566928" y="185623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8"/>
          <p:cNvCxnSpPr/>
          <p:nvPr/>
        </p:nvCxnSpPr>
        <p:spPr>
          <a:xfrm>
            <a:off x="402336" y="2130552"/>
            <a:ext cx="91440" cy="91440"/>
          </a:xfrm>
          <a:prstGeom prst="straightConnector1">
            <a:avLst/>
          </a:prstGeom>
          <a:solidFill>
            <a:srgbClr val="1A56DB"/>
          </a:solidFill>
          <a:ln>
            <a:noFill/>
          </a:ln>
        </p:spPr>
      </p:cxnSp>
      <p:sp>
        <p:nvSpPr>
          <p:cNvPr id="144" name="Google Shape;144;p8"/>
          <p:cNvSpPr/>
          <p:nvPr/>
        </p:nvSpPr>
        <p:spPr>
          <a:xfrm>
            <a:off x="566928" y="20756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react-hook-form + Zod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8"/>
          <p:cNvCxnSpPr/>
          <p:nvPr/>
        </p:nvCxnSpPr>
        <p:spPr>
          <a:xfrm>
            <a:off x="402336" y="2350008"/>
            <a:ext cx="91440" cy="91440"/>
          </a:xfrm>
          <a:prstGeom prst="straightConnector1">
            <a:avLst/>
          </a:prstGeom>
          <a:solidFill>
            <a:srgbClr val="1A56DB"/>
          </a:solidFill>
          <a:ln>
            <a:noFill/>
          </a:ln>
        </p:spPr>
      </p:cxnSp>
      <p:sp>
        <p:nvSpPr>
          <p:cNvPr id="146" name="Google Shape;146;p8"/>
          <p:cNvSpPr/>
          <p:nvPr/>
        </p:nvSpPr>
        <p:spPr>
          <a:xfrm>
            <a:off x="566928" y="229514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Vercel deployment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200400" y="960120"/>
            <a:ext cx="2761488" cy="1627632"/>
          </a:xfrm>
          <a:prstGeom prst="rect">
            <a:avLst/>
          </a:prstGeom>
          <a:solidFill>
            <a:srgbClr val="112240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3200400" y="960120"/>
            <a:ext cx="276148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3310128" y="1005840"/>
            <a:ext cx="2624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🐍  Backend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8"/>
          <p:cNvCxnSpPr/>
          <p:nvPr/>
        </p:nvCxnSpPr>
        <p:spPr>
          <a:xfrm>
            <a:off x="3328416" y="1472184"/>
            <a:ext cx="91440" cy="91440"/>
          </a:xfrm>
          <a:prstGeom prst="straightConnector1">
            <a:avLst/>
          </a:prstGeom>
          <a:solidFill>
            <a:srgbClr val="7C3AED"/>
          </a:solidFill>
          <a:ln>
            <a:noFill/>
          </a:ln>
        </p:spPr>
      </p:cxnSp>
      <p:sp>
        <p:nvSpPr>
          <p:cNvPr id="151" name="Google Shape;151;p8"/>
          <p:cNvSpPr/>
          <p:nvPr/>
        </p:nvSpPr>
        <p:spPr>
          <a:xfrm>
            <a:off x="3493008" y="141732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Python 3.10+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8"/>
          <p:cNvCxnSpPr/>
          <p:nvPr/>
        </p:nvCxnSpPr>
        <p:spPr>
          <a:xfrm>
            <a:off x="3328416" y="1691640"/>
            <a:ext cx="91440" cy="91440"/>
          </a:xfrm>
          <a:prstGeom prst="straightConnector1">
            <a:avLst/>
          </a:prstGeom>
          <a:solidFill>
            <a:srgbClr val="7C3AED"/>
          </a:solidFill>
          <a:ln>
            <a:noFill/>
          </a:ln>
        </p:spPr>
      </p:cxnSp>
      <p:sp>
        <p:nvSpPr>
          <p:cNvPr id="153" name="Google Shape;153;p8"/>
          <p:cNvSpPr/>
          <p:nvPr/>
        </p:nvSpPr>
        <p:spPr>
          <a:xfrm>
            <a:off x="3493008" y="163677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Flask + Flask-CORS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8"/>
          <p:cNvCxnSpPr/>
          <p:nvPr/>
        </p:nvCxnSpPr>
        <p:spPr>
          <a:xfrm>
            <a:off x="3328416" y="1911096"/>
            <a:ext cx="91440" cy="91440"/>
          </a:xfrm>
          <a:prstGeom prst="straightConnector1">
            <a:avLst/>
          </a:prstGeom>
          <a:solidFill>
            <a:srgbClr val="7C3AED"/>
          </a:solidFill>
          <a:ln>
            <a:noFill/>
          </a:ln>
        </p:spPr>
      </p:cxnSp>
      <p:sp>
        <p:nvSpPr>
          <p:cNvPr id="155" name="Google Shape;155;p8"/>
          <p:cNvSpPr/>
          <p:nvPr/>
        </p:nvSpPr>
        <p:spPr>
          <a:xfrm>
            <a:off x="3493008" y="185623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Flask-SQLAlchemy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8"/>
          <p:cNvCxnSpPr/>
          <p:nvPr/>
        </p:nvCxnSpPr>
        <p:spPr>
          <a:xfrm>
            <a:off x="3328416" y="2130552"/>
            <a:ext cx="91440" cy="91440"/>
          </a:xfrm>
          <a:prstGeom prst="straightConnector1">
            <a:avLst/>
          </a:prstGeom>
          <a:solidFill>
            <a:srgbClr val="7C3AED"/>
          </a:solidFill>
          <a:ln>
            <a:noFill/>
          </a:ln>
        </p:spPr>
      </p:cxnSp>
      <p:sp>
        <p:nvSpPr>
          <p:cNvPr id="157" name="Google Shape;157;p8"/>
          <p:cNvSpPr/>
          <p:nvPr/>
        </p:nvSpPr>
        <p:spPr>
          <a:xfrm>
            <a:off x="3493008" y="20756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Flask-Login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8"/>
          <p:cNvCxnSpPr/>
          <p:nvPr/>
        </p:nvCxnSpPr>
        <p:spPr>
          <a:xfrm>
            <a:off x="3328416" y="2350008"/>
            <a:ext cx="91440" cy="91440"/>
          </a:xfrm>
          <a:prstGeom prst="straightConnector1">
            <a:avLst/>
          </a:prstGeom>
          <a:solidFill>
            <a:srgbClr val="7C3AED"/>
          </a:solidFill>
          <a:ln>
            <a:noFill/>
          </a:ln>
        </p:spPr>
      </p:cxnSp>
      <p:sp>
        <p:nvSpPr>
          <p:cNvPr id="159" name="Google Shape;159;p8"/>
          <p:cNvSpPr/>
          <p:nvPr/>
        </p:nvSpPr>
        <p:spPr>
          <a:xfrm>
            <a:off x="3493008" y="229514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Render deployment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6126480" y="960120"/>
            <a:ext cx="2761488" cy="1627632"/>
          </a:xfrm>
          <a:prstGeom prst="rect">
            <a:avLst/>
          </a:prstGeom>
          <a:solidFill>
            <a:srgbClr val="112240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126480" y="960120"/>
            <a:ext cx="2761488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6236208" y="1005840"/>
            <a:ext cx="2624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  Database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8"/>
          <p:cNvCxnSpPr/>
          <p:nvPr/>
        </p:nvCxnSpPr>
        <p:spPr>
          <a:xfrm>
            <a:off x="6254496" y="1472184"/>
            <a:ext cx="91440" cy="91440"/>
          </a:xfrm>
          <a:prstGeom prst="straightConnector1">
            <a:avLst/>
          </a:prstGeom>
          <a:solidFill>
            <a:srgbClr val="0D9488"/>
          </a:solidFill>
          <a:ln>
            <a:noFill/>
          </a:ln>
        </p:spPr>
      </p:cxnSp>
      <p:sp>
        <p:nvSpPr>
          <p:cNvPr id="164" name="Google Shape;164;p8"/>
          <p:cNvSpPr/>
          <p:nvPr/>
        </p:nvSpPr>
        <p:spPr>
          <a:xfrm>
            <a:off x="6419088" y="141732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MySQL via TiDB Cloud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8"/>
          <p:cNvCxnSpPr/>
          <p:nvPr/>
        </p:nvCxnSpPr>
        <p:spPr>
          <a:xfrm>
            <a:off x="6254496" y="1691640"/>
            <a:ext cx="91440" cy="91440"/>
          </a:xfrm>
          <a:prstGeom prst="straightConnector1">
            <a:avLst/>
          </a:prstGeom>
          <a:solidFill>
            <a:srgbClr val="0D9488"/>
          </a:solidFill>
          <a:ln>
            <a:noFill/>
          </a:ln>
        </p:spPr>
      </p:cxnSp>
      <p:sp>
        <p:nvSpPr>
          <p:cNvPr id="166" name="Google Shape;166;p8"/>
          <p:cNvSpPr/>
          <p:nvPr/>
        </p:nvSpPr>
        <p:spPr>
          <a:xfrm>
            <a:off x="6419088" y="163677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SQLAlchemy ORM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8"/>
          <p:cNvCxnSpPr/>
          <p:nvPr/>
        </p:nvCxnSpPr>
        <p:spPr>
          <a:xfrm>
            <a:off x="6254496" y="1911096"/>
            <a:ext cx="91440" cy="91440"/>
          </a:xfrm>
          <a:prstGeom prst="straightConnector1">
            <a:avLst/>
          </a:prstGeom>
          <a:solidFill>
            <a:srgbClr val="0D9488"/>
          </a:solidFill>
          <a:ln>
            <a:noFill/>
          </a:ln>
        </p:spPr>
      </p:cxnSp>
      <p:sp>
        <p:nvSpPr>
          <p:cNvPr id="168" name="Google Shape;168;p8"/>
          <p:cNvSpPr/>
          <p:nvPr/>
        </p:nvSpPr>
        <p:spPr>
          <a:xfrm>
            <a:off x="6419088" y="185623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pymysql driver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8"/>
          <p:cNvCxnSpPr/>
          <p:nvPr/>
        </p:nvCxnSpPr>
        <p:spPr>
          <a:xfrm>
            <a:off x="6254496" y="2130552"/>
            <a:ext cx="91440" cy="91440"/>
          </a:xfrm>
          <a:prstGeom prst="straightConnector1">
            <a:avLst/>
          </a:prstGeom>
          <a:solidFill>
            <a:srgbClr val="0D9488"/>
          </a:solidFill>
          <a:ln>
            <a:noFill/>
          </a:ln>
        </p:spPr>
      </p:cxnSp>
      <p:sp>
        <p:nvSpPr>
          <p:cNvPr id="170" name="Google Shape;170;p8"/>
          <p:cNvSpPr/>
          <p:nvPr/>
        </p:nvSpPr>
        <p:spPr>
          <a:xfrm>
            <a:off x="6419088" y="20756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Serverless cloud DB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74320" y="2715768"/>
            <a:ext cx="2761488" cy="1627632"/>
          </a:xfrm>
          <a:prstGeom prst="rect">
            <a:avLst/>
          </a:prstGeom>
          <a:solidFill>
            <a:srgbClr val="112240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74320" y="2715768"/>
            <a:ext cx="276148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84048" y="2761488"/>
            <a:ext cx="2624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 ML / AI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8"/>
          <p:cNvCxnSpPr/>
          <p:nvPr/>
        </p:nvCxnSpPr>
        <p:spPr>
          <a:xfrm>
            <a:off x="402336" y="3227832"/>
            <a:ext cx="91440" cy="91440"/>
          </a:xfrm>
          <a:prstGeom prst="straightConnector1">
            <a:avLst/>
          </a:prstGeom>
          <a:solidFill>
            <a:srgbClr val="F59E0B"/>
          </a:solidFill>
          <a:ln>
            <a:noFill/>
          </a:ln>
        </p:spPr>
      </p:cxnSp>
      <p:sp>
        <p:nvSpPr>
          <p:cNvPr id="175" name="Google Shape;175;p8"/>
          <p:cNvSpPr/>
          <p:nvPr/>
        </p:nvSpPr>
        <p:spPr>
          <a:xfrm>
            <a:off x="566928" y="317296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EfficientNetB3 (Kaggle)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402336" y="3447288"/>
            <a:ext cx="91440" cy="91440"/>
          </a:xfrm>
          <a:prstGeom prst="straightConnector1">
            <a:avLst/>
          </a:prstGeom>
          <a:solidFill>
            <a:srgbClr val="F59E0B"/>
          </a:solidFill>
          <a:ln>
            <a:noFill/>
          </a:ln>
        </p:spPr>
      </p:cxnSp>
      <p:sp>
        <p:nvSpPr>
          <p:cNvPr id="177" name="Google Shape;177;p8"/>
          <p:cNvSpPr/>
          <p:nvPr/>
        </p:nvSpPr>
        <p:spPr>
          <a:xfrm>
            <a:off x="566928" y="33924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Gradio Client API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402336" y="3666744"/>
            <a:ext cx="91440" cy="91440"/>
          </a:xfrm>
          <a:prstGeom prst="straightConnector1">
            <a:avLst/>
          </a:prstGeom>
          <a:solidFill>
            <a:srgbClr val="F59E0B"/>
          </a:solidFill>
          <a:ln>
            <a:noFill/>
          </a:ln>
        </p:spPr>
      </p:cxnSp>
      <p:sp>
        <p:nvSpPr>
          <p:cNvPr id="179" name="Google Shape;179;p8"/>
          <p:cNvSpPr/>
          <p:nvPr/>
        </p:nvSpPr>
        <p:spPr>
          <a:xfrm>
            <a:off x="566928" y="36118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Hugging Face Space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402336" y="3886200"/>
            <a:ext cx="91440" cy="91440"/>
          </a:xfrm>
          <a:prstGeom prst="straightConnector1">
            <a:avLst/>
          </a:prstGeom>
          <a:solidFill>
            <a:srgbClr val="F59E0B"/>
          </a:solidFill>
          <a:ln>
            <a:noFill/>
          </a:ln>
        </p:spPr>
      </p:cxnSp>
      <p:sp>
        <p:nvSpPr>
          <p:cNvPr id="181" name="Google Shape;181;p8"/>
          <p:cNvSpPr/>
          <p:nvPr/>
        </p:nvSpPr>
        <p:spPr>
          <a:xfrm>
            <a:off x="566928" y="383133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Pillow (preprocessing)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3200400" y="2715768"/>
            <a:ext cx="2761488" cy="1627632"/>
          </a:xfrm>
          <a:prstGeom prst="rect">
            <a:avLst/>
          </a:prstGeom>
          <a:solidFill>
            <a:srgbClr val="112240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3200400" y="2715768"/>
            <a:ext cx="276148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3310128" y="2761488"/>
            <a:ext cx="2624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  Cloud &amp; APIs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8"/>
          <p:cNvCxnSpPr/>
          <p:nvPr/>
        </p:nvCxnSpPr>
        <p:spPr>
          <a:xfrm>
            <a:off x="3328416" y="3227832"/>
            <a:ext cx="91440" cy="91440"/>
          </a:xfrm>
          <a:prstGeom prst="straightConnector1">
            <a:avLst/>
          </a:prstGeom>
          <a:solidFill>
            <a:srgbClr val="10B981"/>
          </a:solidFill>
          <a:ln>
            <a:noFill/>
          </a:ln>
        </p:spPr>
      </p:cxnSp>
      <p:sp>
        <p:nvSpPr>
          <p:cNvPr id="186" name="Google Shape;186;p8"/>
          <p:cNvSpPr/>
          <p:nvPr/>
        </p:nvSpPr>
        <p:spPr>
          <a:xfrm>
            <a:off x="3493008" y="317296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ImgBB API (image host)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8"/>
          <p:cNvCxnSpPr/>
          <p:nvPr/>
        </p:nvCxnSpPr>
        <p:spPr>
          <a:xfrm>
            <a:off x="3328416" y="3447288"/>
            <a:ext cx="91440" cy="91440"/>
          </a:xfrm>
          <a:prstGeom prst="straightConnector1">
            <a:avLst/>
          </a:prstGeom>
          <a:solidFill>
            <a:srgbClr val="10B981"/>
          </a:solidFill>
          <a:ln>
            <a:noFill/>
          </a:ln>
        </p:spPr>
      </p:cxnSp>
      <p:sp>
        <p:nvSpPr>
          <p:cNvPr id="188" name="Google Shape;188;p8"/>
          <p:cNvSpPr/>
          <p:nvPr/>
        </p:nvSpPr>
        <p:spPr>
          <a:xfrm>
            <a:off x="3493008" y="33924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Render (backend)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8"/>
          <p:cNvCxnSpPr/>
          <p:nvPr/>
        </p:nvCxnSpPr>
        <p:spPr>
          <a:xfrm>
            <a:off x="3328416" y="3666744"/>
            <a:ext cx="91440" cy="91440"/>
          </a:xfrm>
          <a:prstGeom prst="straightConnector1">
            <a:avLst/>
          </a:prstGeom>
          <a:solidFill>
            <a:srgbClr val="10B981"/>
          </a:solidFill>
          <a:ln>
            <a:noFill/>
          </a:ln>
        </p:spPr>
      </p:cxnSp>
      <p:sp>
        <p:nvSpPr>
          <p:cNvPr id="190" name="Google Shape;190;p8"/>
          <p:cNvSpPr/>
          <p:nvPr/>
        </p:nvSpPr>
        <p:spPr>
          <a:xfrm>
            <a:off x="3493008" y="36118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Vercel (frontend)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8"/>
          <p:cNvCxnSpPr/>
          <p:nvPr/>
        </p:nvCxnSpPr>
        <p:spPr>
          <a:xfrm>
            <a:off x="3328416" y="3886200"/>
            <a:ext cx="91440" cy="91440"/>
          </a:xfrm>
          <a:prstGeom prst="straightConnector1">
            <a:avLst/>
          </a:prstGeom>
          <a:solidFill>
            <a:srgbClr val="10B981"/>
          </a:solidFill>
          <a:ln>
            <a:noFill/>
          </a:ln>
        </p:spPr>
      </p:cxnSp>
      <p:sp>
        <p:nvSpPr>
          <p:cNvPr id="192" name="Google Shape;192;p8"/>
          <p:cNvSpPr/>
          <p:nvPr/>
        </p:nvSpPr>
        <p:spPr>
          <a:xfrm>
            <a:off x="3493008" y="383133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TiDB Cloud (DB)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6126480" y="2715768"/>
            <a:ext cx="2761488" cy="1627632"/>
          </a:xfrm>
          <a:prstGeom prst="rect">
            <a:avLst/>
          </a:prstGeom>
          <a:solidFill>
            <a:srgbClr val="112240"/>
          </a:solidFill>
          <a:ln>
            <a:noFill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6126480" y="2715768"/>
            <a:ext cx="276148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236208" y="2761488"/>
            <a:ext cx="2624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  Dev Tools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>
            <a:off x="6254496" y="3227832"/>
            <a:ext cx="91440" cy="91440"/>
          </a:xfrm>
          <a:prstGeom prst="straightConnector1">
            <a:avLst/>
          </a:prstGeom>
          <a:solidFill>
            <a:srgbClr val="EF4444"/>
          </a:solidFill>
          <a:ln>
            <a:noFill/>
          </a:ln>
        </p:spPr>
      </p:cxnSp>
      <p:sp>
        <p:nvSpPr>
          <p:cNvPr id="197" name="Google Shape;197;p8"/>
          <p:cNvSpPr/>
          <p:nvPr/>
        </p:nvSpPr>
        <p:spPr>
          <a:xfrm>
            <a:off x="6419088" y="317296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python-dotenv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8"/>
          <p:cNvCxnSpPr/>
          <p:nvPr/>
        </p:nvCxnSpPr>
        <p:spPr>
          <a:xfrm>
            <a:off x="6254496" y="3447288"/>
            <a:ext cx="91440" cy="91440"/>
          </a:xfrm>
          <a:prstGeom prst="straightConnector1">
            <a:avLst/>
          </a:prstGeom>
          <a:solidFill>
            <a:srgbClr val="EF4444"/>
          </a:solidFill>
          <a:ln>
            <a:noFill/>
          </a:ln>
        </p:spPr>
      </p:cxnSp>
      <p:sp>
        <p:nvSpPr>
          <p:cNvPr id="199" name="Google Shape;199;p8"/>
          <p:cNvSpPr/>
          <p:nvPr/>
        </p:nvSpPr>
        <p:spPr>
          <a:xfrm>
            <a:off x="6419088" y="339242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ESLint + TypeScript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8"/>
          <p:cNvCxnSpPr/>
          <p:nvPr/>
        </p:nvCxnSpPr>
        <p:spPr>
          <a:xfrm>
            <a:off x="6254496" y="3666744"/>
            <a:ext cx="91440" cy="91440"/>
          </a:xfrm>
          <a:prstGeom prst="straightConnector1">
            <a:avLst/>
          </a:prstGeom>
          <a:solidFill>
            <a:srgbClr val="EF4444"/>
          </a:solidFill>
          <a:ln>
            <a:noFill/>
          </a:ln>
        </p:spPr>
      </p:cxnSp>
      <p:sp>
        <p:nvSpPr>
          <p:cNvPr id="201" name="Google Shape;201;p8"/>
          <p:cNvSpPr/>
          <p:nvPr/>
        </p:nvSpPr>
        <p:spPr>
          <a:xfrm>
            <a:off x="6419088" y="36118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Git + GitHub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8"/>
          <p:cNvCxnSpPr/>
          <p:nvPr/>
        </p:nvCxnSpPr>
        <p:spPr>
          <a:xfrm>
            <a:off x="6254496" y="3886200"/>
            <a:ext cx="91440" cy="91440"/>
          </a:xfrm>
          <a:prstGeom prst="straightConnector1">
            <a:avLst/>
          </a:prstGeom>
          <a:solidFill>
            <a:srgbClr val="EF4444"/>
          </a:solidFill>
          <a:ln>
            <a:noFill/>
          </a:ln>
        </p:spPr>
      </p:cxnSp>
      <p:sp>
        <p:nvSpPr>
          <p:cNvPr id="203" name="Google Shape;203;p8"/>
          <p:cNvSpPr/>
          <p:nvPr/>
        </p:nvSpPr>
        <p:spPr>
          <a:xfrm>
            <a:off x="6419088" y="383133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npm / pip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8778240" y="47731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65760" y="16459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65760" y="64008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6DB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1A56DB"/>
                </a:solidFill>
                <a:latin typeface="Calibri"/>
                <a:ea typeface="Calibri"/>
                <a:cs typeface="Calibri"/>
                <a:sym typeface="Calibri"/>
              </a:rPr>
              <a:t>React 18 · TypeScript · Vite · Tailwind CSS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20040" y="960120"/>
            <a:ext cx="457200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320040" y="960120"/>
            <a:ext cx="73152" cy="5760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502920" y="101498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🔐 Login &amp; Register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02920" y="126187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Zod schema + react-hook-form validation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320040" y="1627632"/>
            <a:ext cx="457200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20040" y="1627632"/>
            <a:ext cx="73152" cy="5760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502920" y="1682496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📤 Activity Analyzer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02920" y="1929384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Drag-and-drop image upload (PNG/JPG ≤16MB)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20040" y="2295144"/>
            <a:ext cx="457200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20040" y="2295144"/>
            <a:ext cx="73152" cy="5760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502920" y="2350008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📊 Result Display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02920" y="2596896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Activity label, confidence score &amp; Ticket 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320040" y="2962656"/>
            <a:ext cx="457200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320040" y="2962656"/>
            <a:ext cx="73152" cy="5760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502920" y="3017520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📜 History Page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02920" y="3264408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View past analyses, filter by date/Ticket ID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20040" y="3630168"/>
            <a:ext cx="457200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320040" y="3630168"/>
            <a:ext cx="73152" cy="5760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02920" y="3685032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💬 AI Chatbot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02920" y="3931920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Integrated chatbot assistant (bottom-right)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20040" y="4297680"/>
            <a:ext cx="4572000" cy="5760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320040" y="4297680"/>
            <a:ext cx="73152" cy="5760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502920" y="435254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🚀 Vercel Deploy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502920" y="459943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har-ibm.vercel.app · Auto-deploy on push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074920" y="9601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Live Application — HAR-Cloud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074920" y="1261872"/>
            <a:ext cx="3749040" cy="2834640"/>
          </a:xfrm>
          <a:prstGeom prst="rect">
            <a:avLst/>
          </a:prstGeom>
          <a:solidFill>
            <a:srgbClr val="E8EEF8"/>
          </a:solidFill>
          <a:ln cap="flat" cmpd="sng" w="2540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3208" y="1280160"/>
            <a:ext cx="3712464" cy="27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5074920" y="4160520"/>
            <a:ext cx="374904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5074920" y="41605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  har-ibm.vercel.app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E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8778240" y="47731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&amp; Database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65760" y="64008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Flask REST API  ·  MySQL (TiDB Cloud)  ·  ImgBB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20040" y="9601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API Endpoints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20040" y="1280160"/>
            <a:ext cx="4937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411480" y="1325880"/>
            <a:ext cx="685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143000" y="132588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2286000" y="1325880"/>
            <a:ext cx="2834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20040" y="1664208"/>
            <a:ext cx="4937760" cy="365760"/>
          </a:xfrm>
          <a:prstGeom prst="rect">
            <a:avLst/>
          </a:prstGeom>
          <a:solidFill>
            <a:srgbClr val="132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384048" y="1728216"/>
            <a:ext cx="65836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84048" y="1728216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115568" y="1737360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/api/test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267712" y="1737360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Backend health check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320040" y="2066544"/>
            <a:ext cx="4937760" cy="365760"/>
          </a:xfrm>
          <a:prstGeom prst="rect">
            <a:avLst/>
          </a:prstGeom>
          <a:solidFill>
            <a:srgbClr val="0D1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84048" y="2130552"/>
            <a:ext cx="658368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84048" y="2130552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115568" y="213969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/api/register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2267712" y="2139696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Create new user account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320040" y="2468880"/>
            <a:ext cx="4937760" cy="365760"/>
          </a:xfrm>
          <a:prstGeom prst="rect">
            <a:avLst/>
          </a:prstGeom>
          <a:solidFill>
            <a:srgbClr val="132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384048" y="2532888"/>
            <a:ext cx="658368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384048" y="2532888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115568" y="2542032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/api/login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2267712" y="2542032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Authenticate user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320040" y="2871216"/>
            <a:ext cx="4937760" cy="365760"/>
          </a:xfrm>
          <a:prstGeom prst="rect">
            <a:avLst/>
          </a:prstGeom>
          <a:solidFill>
            <a:srgbClr val="0D1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384048" y="2935224"/>
            <a:ext cx="658368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384048" y="2935224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1115568" y="2944368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/upload_image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267712" y="2944368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Upload &amp; analyse → label + Ticket 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20040" y="3273552"/>
            <a:ext cx="4937760" cy="365760"/>
          </a:xfrm>
          <a:prstGeom prst="rect">
            <a:avLst/>
          </a:prstGeom>
          <a:solidFill>
            <a:srgbClr val="132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384048" y="3337560"/>
            <a:ext cx="65836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384048" y="3337560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1115568" y="3346704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/api/users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267712" y="3346704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List registered users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320040" y="3675888"/>
            <a:ext cx="4937760" cy="365760"/>
          </a:xfrm>
          <a:prstGeom prst="rect">
            <a:avLst/>
          </a:prstGeom>
          <a:solidFill>
            <a:srgbClr val="0D1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384048" y="3739896"/>
            <a:ext cx="658368" cy="2377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384048" y="3739896"/>
            <a:ext cx="658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115568" y="3749040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/api/check-db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2267712" y="3749040"/>
            <a:ext cx="294436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4FF"/>
                </a:solidFill>
                <a:latin typeface="Calibri"/>
                <a:ea typeface="Calibri"/>
                <a:cs typeface="Calibri"/>
                <a:sym typeface="Calibri"/>
              </a:rPr>
              <a:t>Verify DB connection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486400" y="96012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Database Models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486400" y="1280160"/>
            <a:ext cx="3337560" cy="1234440"/>
          </a:xfrm>
          <a:prstGeom prst="rect">
            <a:avLst/>
          </a:prstGeom>
          <a:solidFill>
            <a:srgbClr val="11224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5486400" y="1280160"/>
            <a:ext cx="333756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559552" y="130759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👤  User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559552" y="16459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492240" y="164592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790688" y="16459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559552" y="186537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fullName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6492240" y="186537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String(100)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559552" y="20848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492240" y="208483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String(100)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790688" y="20848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unique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5559552" y="23042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6492240" y="23042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String(200)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7790688" y="23042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hashed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5486400" y="2633472"/>
            <a:ext cx="3337560" cy="2029968"/>
          </a:xfrm>
          <a:prstGeom prst="rect">
            <a:avLst/>
          </a:prstGeom>
          <a:solidFill>
            <a:srgbClr val="112240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5486400" y="2633472"/>
            <a:ext cx="333756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/>
          <p:nvPr/>
        </p:nvSpPr>
        <p:spPr>
          <a:xfrm>
            <a:off x="5559552" y="266090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📜  History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5559552" y="2999232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ticket_id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601968" y="299923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String(100)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7626096" y="299923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PK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5559552" y="3264408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user_id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6601968" y="3264408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Integer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7626096" y="326440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FK→users.id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5559552" y="3529584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image_name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6601968" y="3529584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String(100)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7626096" y="3529584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5559552" y="3794760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image_url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601968" y="379476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String(500)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7626096" y="379476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not null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559552" y="4059936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601968" y="405993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String(100)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5559552" y="4325112"/>
            <a:ext cx="10241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timestamp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6601968" y="432511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DateTime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7626096" y="4325112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850"/>
              <a:buFont typeface="Calibri"/>
              <a:buNone/>
            </a:pPr>
            <a:r>
              <a:rPr lang="en-US" sz="8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IST default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1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8778240" y="47731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ML Model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365760" y="64008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EfficientNetB3  ·  Trained on Kaggle  ·  Served via Gradio (Hugging Face)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256032" y="969264"/>
            <a:ext cx="475488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256032" y="1097280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804672" y="969264"/>
            <a:ext cx="3749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804672" y="969264"/>
            <a:ext cx="3749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896112" y="1060704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Image Input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96112" y="129844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User uploads JPG/PNG via dashboard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256032" y="1755648"/>
            <a:ext cx="475488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256032" y="1883664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804672" y="1755648"/>
            <a:ext cx="3749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804672" y="1755648"/>
            <a:ext cx="3749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896112" y="184708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Pre-processing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896112" y="208483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Pillow: resize &amp; normalize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256032" y="2542032"/>
            <a:ext cx="475488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256032" y="2670048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804672" y="2542032"/>
            <a:ext cx="3749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804672" y="2542032"/>
            <a:ext cx="3749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896112" y="2633472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Gradio Client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896112" y="287121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Flask calls EfficientNetB3 endpoint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256032" y="3328416"/>
            <a:ext cx="475488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256032" y="3456432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804672" y="3328416"/>
            <a:ext cx="3749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804672" y="3328416"/>
            <a:ext cx="3749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896112" y="341985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896112" y="365760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Model returns label &amp; confidence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256032" y="4114800"/>
            <a:ext cx="475488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256032" y="4242816"/>
            <a:ext cx="4754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804672" y="4114800"/>
            <a:ext cx="374904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804672" y="4114800"/>
            <a:ext cx="3749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896112" y="420624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896112" y="444398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Label + Ticket ID sent to frontend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4846320" y="969264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Training — Kaggle (EfficientNetB3)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4846320" y="1261872"/>
            <a:ext cx="3977640" cy="2377440"/>
          </a:xfrm>
          <a:prstGeom prst="rect">
            <a:avLst/>
          </a:prstGeom>
          <a:solidFill>
            <a:srgbClr val="111111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8" name="Google Shape;36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4608" y="1280160"/>
            <a:ext cx="3941064" cy="2340864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1"/>
          <p:cNvSpPr/>
          <p:nvPr/>
        </p:nvSpPr>
        <p:spPr>
          <a:xfrm>
            <a:off x="4846320" y="3730752"/>
            <a:ext cx="1920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4937760" y="378561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Model: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4937760" y="3995928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EfficientNetB3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6858000" y="3730752"/>
            <a:ext cx="1920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6949440" y="3785616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Platform: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6949440" y="3995928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Kaggle Notebook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4846320" y="4315968"/>
            <a:ext cx="1920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4937760" y="4370832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Serve via: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4937760" y="458114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Gradio + HF Space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6858000" y="4315968"/>
            <a:ext cx="192024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6949440" y="4370832"/>
            <a:ext cx="8046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6949440" y="4581144"/>
            <a:ext cx="1737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Label + Confidence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E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8778240" y="47731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365760" y="64008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Vercel · Render · TiDB Cloud · ImgBB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256032" y="969264"/>
            <a:ext cx="2029968" cy="475488"/>
          </a:xfrm>
          <a:prstGeom prst="rect">
            <a:avLst/>
          </a:prstGeom>
          <a:solidFill>
            <a:srgbClr val="1A56D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256032" y="987552"/>
            <a:ext cx="2029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256032" y="1216152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2432304" y="969264"/>
            <a:ext cx="2029968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2432304" y="987552"/>
            <a:ext cx="2029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2432304" y="1216152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4608576" y="969264"/>
            <a:ext cx="2029968" cy="475488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4608576" y="987552"/>
            <a:ext cx="2029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TiDB Cloud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4608576" y="1216152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6784848" y="969264"/>
            <a:ext cx="2029968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2"/>
          <p:cNvSpPr/>
          <p:nvPr/>
        </p:nvSpPr>
        <p:spPr>
          <a:xfrm>
            <a:off x="6784848" y="987552"/>
            <a:ext cx="20299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ImgBB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6784848" y="1216152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Image Storage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256032" y="15727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Vercel Analytics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256032" y="1865376"/>
            <a:ext cx="2834640" cy="260604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1A56D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6" name="Google Shape;4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883664"/>
            <a:ext cx="2798064" cy="256946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2"/>
          <p:cNvSpPr/>
          <p:nvPr/>
        </p:nvSpPr>
        <p:spPr>
          <a:xfrm>
            <a:off x="3246120" y="15727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Render — Live Logs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3246120" y="1865376"/>
            <a:ext cx="2834640" cy="260604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9" name="Google Shape;40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4408" y="1883664"/>
            <a:ext cx="2798064" cy="256946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2"/>
          <p:cNvSpPr/>
          <p:nvPr/>
        </p:nvSpPr>
        <p:spPr>
          <a:xfrm>
            <a:off x="6236208" y="15727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Render — Network Metrics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6236208" y="1865376"/>
            <a:ext cx="2834640" cy="2606040"/>
          </a:xfrm>
          <a:prstGeom prst="rect">
            <a:avLst/>
          </a:prstGeom>
          <a:solidFill>
            <a:srgbClr val="111111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54496" y="1883664"/>
            <a:ext cx="2798064" cy="256946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2"/>
          <p:cNvSpPr/>
          <p:nvPr/>
        </p:nvSpPr>
        <p:spPr>
          <a:xfrm>
            <a:off x="256032" y="4572000"/>
            <a:ext cx="8631936" cy="274320"/>
          </a:xfrm>
          <a:prstGeom prst="rect">
            <a:avLst/>
          </a:prstGeom>
          <a:solidFill>
            <a:srgbClr val="132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2"/>
          <p:cNvSpPr/>
          <p:nvPr/>
        </p:nvSpPr>
        <p:spPr>
          <a:xfrm>
            <a:off x="256032" y="4572000"/>
            <a:ext cx="8631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services communicate over HTTPS  ·  CORS enabled  ·  Free tier — cold start ~50s on first request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8778240" y="4773168"/>
            <a:ext cx="320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E3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B1E3E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365760" y="64008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Planned improvements and next milestones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292608" y="960120"/>
            <a:ext cx="2743200" cy="18653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292608" y="960120"/>
            <a:ext cx="27432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402336" y="100584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  Fine-tune EfficientNetB3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402336" y="1380744"/>
            <a:ext cx="2560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Retrain on a larger, labelled custom dataset and deploy on IBM Watson ML for lower latency and higher accuracy.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3191256" y="960120"/>
            <a:ext cx="2743200" cy="18653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3191256" y="960120"/>
            <a:ext cx="2743200" cy="34747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3300984" y="100584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🎫  Ticket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3300984" y="1380744"/>
            <a:ext cx="2560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Auto-generate unique tickets for every activity performed by any user.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6089904" y="960120"/>
            <a:ext cx="2743200" cy="18653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6089904" y="960120"/>
            <a:ext cx="27432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6199632" y="100584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📜  Enhanced History Page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6199632" y="1380744"/>
            <a:ext cx="2560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Full-featured view with pagination, date filtering, Ticket ID search, and CSV export for audit trails.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292608" y="2935224"/>
            <a:ext cx="2743200" cy="18653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292608" y="2935224"/>
            <a:ext cx="274320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402336" y="298094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  JWT Token-Based Auth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402336" y="3355848"/>
            <a:ext cx="2560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Migrate from Flask-Login sessions to stateless JWT for scalable, secure API authentication.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3"/>
          <p:cNvSpPr/>
          <p:nvPr/>
        </p:nvSpPr>
        <p:spPr>
          <a:xfrm>
            <a:off x="3191256" y="2935224"/>
            <a:ext cx="2743200" cy="18653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3191256" y="2935224"/>
            <a:ext cx="274320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3300984" y="298094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🐳  Docker &amp; CI/CD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3300984" y="3355848"/>
            <a:ext cx="2560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Containerise with Docker Compose and add GitHub Actions for automated testing and zero-downtime deploys.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6089904" y="2935224"/>
            <a:ext cx="2743200" cy="1865376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6089904" y="2935224"/>
            <a:ext cx="2743200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6199632" y="298094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Analytics 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6199632" y="3355848"/>
            <a:ext cx="2560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Admin panel with live charts showing activity trends, per-user stats, and model confidence distributions.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E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4"/>
          <p:cNvSpPr/>
          <p:nvPr/>
        </p:nvSpPr>
        <p:spPr>
          <a:xfrm>
            <a:off x="0" y="0"/>
            <a:ext cx="45720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4572000" y="0"/>
            <a:ext cx="4572000" cy="914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2550675" y="1555940"/>
            <a:ext cx="3657600" cy="36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-192525" y="1693100"/>
            <a:ext cx="9144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-192525" y="269894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HAR-Cloud  ·  Human Activity Recognition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2550675" y="3376025"/>
            <a:ext cx="3657600" cy="36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0" y="44622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IBM SkillsBuild Internship Project  ·  Ganpat University — ICT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